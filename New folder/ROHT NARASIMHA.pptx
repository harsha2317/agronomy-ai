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64" r:id="rId11"/>
    <p:sldId id="290" r:id="rId12"/>
    <p:sldId id="292" r:id="rId13"/>
    <p:sldId id="293" r:id="rId14"/>
    <p:sldId id="286" r:id="rId15"/>
    <p:sldId id="287" r:id="rId16"/>
    <p:sldId id="280" r:id="rId17"/>
    <p:sldId id="288" r:id="rId18"/>
    <p:sldId id="289" r:id="rId19"/>
    <p:sldId id="27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-84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del">
          <ac:chgData name="Aman Shrivastava" userId="S::ashrivastava@edunetfoundation.org::c21995ab-fa37-4cde-b5a3-dec0fb9e9a10" providerId="AD" clId="Web-{088AD18C-7811-B1E2-9ED5-57A1A5542DF6}" dt="2026-06-19T06:20:45.745" v="122"/>
          <ac:spMkLst>
            <pc:docMk/>
            <pc:sldMk cId="0" sldId="257"/>
            <ac:spMk id="2" creationId="{20FC1D0F-7927-693D-B3A8-BEEE7BBB2D18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02.481" v="214"/>
          <ac:spMkLst>
            <pc:docMk/>
            <pc:sldMk cId="0" sldId="257"/>
            <ac:spMk id="5" creationId="{8CF059D9-DCD7-9C47-2E79-C5986ADDD187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33.481" v="246"/>
          <ac:spMkLst>
            <pc:docMk/>
            <pc:sldMk cId="0" sldId="257"/>
            <ac:spMk id="6" creationId="{351EC9F7-1007-D29E-338A-EEE56747ED3E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5:23.585" v="76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del mod">
          <ac:chgData name="Aman Shrivastava" userId="S::ashrivastava@edunetfoundation.org::c21995ab-fa37-4cde-b5a3-dec0fb9e9a10" providerId="AD" clId="Web-{088AD18C-7811-B1E2-9ED5-57A1A5542DF6}" dt="2026-06-19T06:18:45.275" v="79"/>
          <ac:picMkLst>
            <pc:docMk/>
            <pc:sldMk cId="2115484872" sldId="277"/>
            <ac:picMk id="2" creationId="{E9DB3200-E2EC-A058-B02D-E1510060484E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8:46.790" v="80"/>
          <ac:picMkLst>
            <pc:docMk/>
            <pc:sldMk cId="2115484872" sldId="277"/>
            <ac:picMk id="3" creationId="{03614573-D426-9337-9C0E-5207B9123920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  <pc:inkChg chg="add del">
          <ac:chgData name="Aman Shrivastava" userId="S::ashrivastava@edunetfoundation.org::c21995ab-fa37-4cde-b5a3-dec0fb9e9a10" providerId="AD" clId="Web-{088AD18C-7811-B1E2-9ED5-57A1A5542DF6}" dt="2026-06-19T05:51:50.431" v="39"/>
          <ac:inkMkLst>
            <pc:docMk/>
            <pc:sldMk cId="2115484872" sldId="277"/>
            <ac:inkMk id="4" creationId="{339FEE3F-7BE8-8E7A-6A09-16BCB25AB1E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4.134" v="45"/>
          <ac:inkMkLst>
            <pc:docMk/>
            <pc:sldMk cId="2115484872" sldId="277"/>
            <ac:inkMk id="6" creationId="{A89955C5-BB88-2BD8-C3DC-B49AE1FA753F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634" v="44"/>
          <ac:inkMkLst>
            <pc:docMk/>
            <pc:sldMk cId="2115484872" sldId="277"/>
            <ac:inkMk id="7" creationId="{215511CE-958D-7751-754D-0682F725A052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275" v="43"/>
          <ac:inkMkLst>
            <pc:docMk/>
            <pc:sldMk cId="2115484872" sldId="277"/>
            <ac:inkMk id="8" creationId="{54C6AFEC-9CCE-EC84-7FBE-A4154B140DC8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1.150" v="81"/>
          <ac:inkMkLst>
            <pc:docMk/>
            <pc:sldMk cId="2115484872" sldId="277"/>
            <ac:inkMk id="9" creationId="{4288BD03-6EE6-7ADE-E088-246DCEBA2D0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3.494" v="82"/>
          <ac:inkMkLst>
            <pc:docMk/>
            <pc:sldMk cId="2115484872" sldId="277"/>
            <ac:inkMk id="10" creationId="{64412BAE-99D1-29B6-F8E0-FFAEAC5EF7C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06:19.409" v="69"/>
          <ac:inkMkLst>
            <pc:docMk/>
            <pc:sldMk cId="2115484872" sldId="277"/>
            <ac:inkMk id="11" creationId="{75A70817-4D26-F5D5-7B43-3BF146ADCFA3}"/>
          </ac:inkMkLst>
        </pc:ink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del">
          <ac:chgData name="Aman Shrivastava" userId="S::ashrivastava@edunetfoundation.org::c21995ab-fa37-4cde-b5a3-dec0fb9e9a10" providerId="AD" clId="Web-{088AD18C-7811-B1E2-9ED5-57A1A5542DF6}" dt="2026-06-19T06:09:56.270" v="70"/>
          <ac:picMkLst>
            <pc:docMk/>
            <pc:sldMk cId="2772501912" sldId="279"/>
            <ac:picMk id="3" creationId="{11BF3590-52D3-DC9D-2C84-E66D9597D77D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">
        <pc:chgData name="Aman Shrivastava" userId="S::ashrivastava@edunetfoundation.org::c21995ab-fa37-4cde-b5a3-dec0fb9e9a10" providerId="AD" clId="Web-{088AD18C-7811-B1E2-9ED5-57A1A5542DF6}" dt="2026-06-19T06:28:32.545" v="260"/>
        <pc:sldMkLst>
          <pc:docMk/>
          <pc:sldMk cId="4218467252" sldId="284"/>
        </pc:sldMkLst>
        <pc:inkChg chg="add">
          <ac:chgData name="Aman Shrivastava" userId="S::ashrivastava@edunetfoundation.org::c21995ab-fa37-4cde-b5a3-dec0fb9e9a10" providerId="AD" clId="Web-{088AD18C-7811-B1E2-9ED5-57A1A5542DF6}" dt="2026-06-19T06:02:12.187" v="49"/>
          <ac:inkMkLst>
            <pc:docMk/>
            <pc:sldMk cId="4218467252" sldId="284"/>
            <ac:inkMk id="4" creationId="{022D0B6B-16B4-5876-55B2-3ACEECC98828}"/>
          </ac:inkMkLst>
        </pc:ink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  <pc:spChg chg="add del">
          <ac:chgData name="Aman Shrivastava" userId="S::ashrivastava@edunetfoundation.org::c21995ab-fa37-4cde-b5a3-dec0fb9e9a10" providerId="AD" clId="Web-{088AD18C-7811-B1E2-9ED5-57A1A5542DF6}" dt="2026-06-19T05:52:06.978" v="46"/>
          <ac:spMkLst>
            <pc:docMk/>
            <pc:sldMk cId="2605851928" sldId="287"/>
            <ac:spMk id="2" creationId="{22776EB6-691D-8F86-ABF4-9D27BDFB77FE}"/>
          </ac:spMkLst>
        </pc:spChg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del">
          <ac:chgData name="Aman Shrivastava" userId="S::ashrivastava@edunetfoundation.org::c21995ab-fa37-4cde-b5a3-dec0fb9e9a10" providerId="AD" clId="Web-{088AD18C-7811-B1E2-9ED5-57A1A5542DF6}" dt="2026-06-19T05:41:05.877" v="1"/>
          <ac:spMkLst>
            <pc:docMk/>
            <pc:sldMk cId="1229047658" sldId="288"/>
            <ac:spMk id="2" creationId="{DF28AC7D-07EA-A945-E96E-15036A9DB45D}"/>
          </ac:spMkLst>
        </pc:spChg>
        <pc:spChg chg="del">
          <ac:chgData name="Aman Shrivastava" userId="S::ashrivastava@edunetfoundation.org::c21995ab-fa37-4cde-b5a3-dec0fb9e9a10" providerId="AD" clId="Web-{088AD18C-7811-B1E2-9ED5-57A1A5542DF6}" dt="2026-06-19T05:41:09.174" v="2"/>
          <ac:spMkLst>
            <pc:docMk/>
            <pc:sldMk cId="1229047658" sldId="288"/>
            <ac:spMk id="3" creationId="{6E0CE283-F2CE-BB1E-A169-02FBC85A94BA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5:48:40.427" v="14" actId="14100"/>
          <ac:picMkLst>
            <pc:docMk/>
            <pc:sldMk cId="1229047658" sldId="288"/>
            <ac:picMk id="4" creationId="{AD88C341-1F2F-9B6F-593F-2917E7E23DCB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5:48:32.318" v="12" actId="14100"/>
          <ac:picMkLst>
            <pc:docMk/>
            <pc:sldMk cId="1229047658" sldId="288"/>
            <ac:picMk id="5" creationId="{78BE1AD4-7C9B-6215-1BD9-9999437CD770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del">
          <ac:chgData name="Aswini Kumar Motapothula" userId="S::aswinikumar@edunetfoundation.org::8849ae8d-bc89-4217-899c-9440ffcae5bb" providerId="AD" clId="Web-{0037A25B-DA5D-A37C-3B36-7F0977405ABF}" dt="2026-06-19T05:52:55.794" v="1"/>
          <ac:spMkLst>
            <pc:docMk/>
            <pc:sldMk cId="1229047658" sldId="288"/>
            <ac:spMk id="2" creationId="{AEE9AF93-8291-7FBB-4169-9C96AABF542F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  <pc:picChg chg="mod">
          <ac:chgData name="Aswini Kumar Motapothula" userId="S::aswinikumar@edunetfoundation.org::8849ae8d-bc89-4217-899c-9440ffcae5bb" providerId="AD" clId="Web-{0037A25B-DA5D-A37C-3B36-7F0977405ABF}" dt="2026-06-19T05:54:10.419" v="46" actId="1076"/>
          <ac:picMkLst>
            <pc:docMk/>
            <pc:sldMk cId="1229047658" sldId="288"/>
            <ac:picMk id="4" creationId="{AD88C341-1F2F-9B6F-593F-2917E7E23DCB}"/>
          </ac:picMkLst>
        </pc:picChg>
        <pc:picChg chg="del mod">
          <ac:chgData name="Aswini Kumar Motapothula" userId="S::aswinikumar@edunetfoundation.org::8849ae8d-bc89-4217-899c-9440ffcae5bb" providerId="AD" clId="Web-{0037A25B-DA5D-A37C-3B36-7F0977405ABF}" dt="2026-06-19T05:54:19.904" v="49"/>
          <ac:picMkLst>
            <pc:docMk/>
            <pc:sldMk cId="1229047658" sldId="288"/>
            <ac:picMk id="5" creationId="{78BE1AD4-7C9B-6215-1BD9-9999437CD770}"/>
          </ac:picMkLst>
        </pc:pic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del">
          <ac:chgData name="Aswini Kumar Motapothula" userId="S::aswinikumar@edunetfoundation.org::8849ae8d-bc89-4217-899c-9440ffcae5bb" providerId="AD" clId="Web-{0037A25B-DA5D-A37C-3B36-7F0977405ABF}" dt="2026-06-19T05:54:27.466" v="53"/>
          <ac:spMkLst>
            <pc:docMk/>
            <pc:sldMk cId="2506610743" sldId="289"/>
            <ac:spMk id="2" creationId="{CB0171ED-6665-28B2-1F95-D5DB94297A27}"/>
          </ac:spMkLst>
        </pc:spChg>
        <pc:spChg chg="del">
          <ac:chgData name="Aswini Kumar Motapothula" userId="S::aswinikumar@edunetfoundation.org::8849ae8d-bc89-4217-899c-9440ffcae5bb" providerId="AD" clId="Web-{0037A25B-DA5D-A37C-3B36-7F0977405ABF}" dt="2026-06-19T05:54:30.450" v="54"/>
          <ac:spMkLst>
            <pc:docMk/>
            <pc:sldMk cId="2506610743" sldId="289"/>
            <ac:spMk id="3" creationId="{7D69201D-F352-BEC5-9310-979DE8898B63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888009" y="1274651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xmlns="" val="1634348948"/>
              </p:ext>
            </p:extLst>
          </p:nvPr>
        </p:nvGraphicFramePr>
        <p:xfrm>
          <a:off x="1299257" y="2600314"/>
          <a:ext cx="9394989" cy="271463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21911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Faculty 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955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PILLA</a:t>
                      </a:r>
                      <a:r>
                        <a:rPr lang="en-US" baseline="0" dirty="0" smtClean="0"/>
                        <a:t> ROHIT VENKATA LAXSHMI NARASIMHA RAO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prohitrohit29@gmail.com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9908136325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 smtClean="0">
                <a:highlight>
                  <a:srgbClr val="FFFF00"/>
                </a:highlight>
              </a:rPr>
              <a:t>Healthcare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</a:t>
            </a:r>
            <a:r>
              <a:rPr lang="en-US" sz="2400" b="1"/>
              <a:t>– </a:t>
            </a:r>
            <a:r>
              <a:rPr lang="en-US" sz="2400" b="1" smtClean="0"/>
              <a:t>DIP DIET RAG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7662" y="3936469"/>
            <a:ext cx="1000125" cy="130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</a:t>
            </a:r>
            <a:r>
              <a:rPr lang="en-US" b="1" dirty="0" smtClean="0"/>
              <a:t>: DIP Diet RAG Agent </a:t>
            </a:r>
          </a:p>
          <a:p>
            <a:pPr fontAlgn="base"/>
            <a:endParaRPr lang="en-US" b="1" dirty="0" smtClean="0"/>
          </a:p>
          <a:p>
            <a:pPr fontAlgn="base"/>
            <a:r>
              <a:rPr lang="en-US" sz="1600" b="1" dirty="0" smtClean="0"/>
              <a:t>Create a complete AI-powered web application called "DIP Diet RAG Agent" using Python, Flask, Bootstrap, JavaScript, </a:t>
            </a:r>
            <a:r>
              <a:rPr lang="en-US" sz="1600" b="1" dirty="0" err="1" smtClean="0"/>
              <a:t>SQLite</a:t>
            </a:r>
            <a:r>
              <a:rPr lang="en-US" sz="1600" b="1" dirty="0" smtClean="0"/>
              <a:t>, and IBM watsonx.ai Granite Models. </a:t>
            </a:r>
          </a:p>
          <a:p>
            <a:pPr fontAlgn="base"/>
            <a:endParaRPr lang="en-US" b="1" dirty="0" smtClean="0"/>
          </a:p>
          <a:p>
            <a:pPr fontAlgn="base"/>
            <a:r>
              <a:rPr lang="en-US" sz="1600" b="1" dirty="0" smtClean="0"/>
              <a:t>Generate the entire application in a single file named app.py. </a:t>
            </a:r>
          </a:p>
          <a:p>
            <a:pPr fontAlgn="base"/>
            <a:endParaRPr lang="en-US" sz="1600" b="1" dirty="0" smtClean="0"/>
          </a:p>
          <a:p>
            <a:pPr fontAlgn="base"/>
            <a:endParaRPr lang="en-US" sz="1600" b="1" dirty="0" smtClean="0"/>
          </a:p>
          <a:p>
            <a:pPr fontAlgn="base"/>
            <a:r>
              <a:rPr lang="en-US" sz="1600" b="1" dirty="0" smtClean="0"/>
              <a:t>Requirements:</a:t>
            </a:r>
          </a:p>
          <a:p>
            <a:pPr fontAlgn="base"/>
            <a:endParaRPr lang="en-US" sz="1600" b="1" dirty="0" smtClean="0"/>
          </a:p>
          <a:p>
            <a:pPr fontAlgn="base"/>
            <a:r>
              <a:rPr lang="en-US" sz="1600" b="1" dirty="0" smtClean="0"/>
              <a:t> - Multi-Agent Architecture</a:t>
            </a:r>
          </a:p>
          <a:p>
            <a:pPr fontAlgn="base"/>
            <a:r>
              <a:rPr lang="en-US" sz="1600" b="1" dirty="0" smtClean="0"/>
              <a:t> – IBM watsonx.ai integration </a:t>
            </a:r>
          </a:p>
          <a:p>
            <a:pPr fontAlgn="base"/>
            <a:r>
              <a:rPr lang="en-US" sz="1600" b="1" dirty="0" smtClean="0"/>
              <a:t>– Chat interface </a:t>
            </a:r>
            <a:r>
              <a:rPr lang="en-US" sz="1600" b="1" dirty="0" err="1" smtClean="0"/>
              <a:t>nalytics</a:t>
            </a:r>
            <a:r>
              <a:rPr lang="en-US" sz="1600" b="1" dirty="0" smtClean="0"/>
              <a:t> dashboard</a:t>
            </a:r>
          </a:p>
          <a:p>
            <a:pPr fontAlgn="base"/>
            <a:r>
              <a:rPr lang="en-US" sz="1600" b="1" dirty="0" smtClean="0"/>
              <a:t> - SQ </a:t>
            </a:r>
            <a:r>
              <a:rPr lang="en-US" sz="1600" b="1" dirty="0" err="1" smtClean="0"/>
              <a:t>Lite</a:t>
            </a:r>
            <a:r>
              <a:rPr lang="en-US" sz="1600" b="1" dirty="0" smtClean="0"/>
              <a:t> storage</a:t>
            </a:r>
          </a:p>
          <a:p>
            <a:pPr fontAlgn="base"/>
            <a:r>
              <a:rPr lang="en-US" sz="1600" b="1" dirty="0" smtClean="0"/>
              <a:t> - Responsive Bootstrap UI</a:t>
            </a:r>
          </a:p>
          <a:p>
            <a:pPr fontAlgn="base"/>
            <a:r>
              <a:rPr lang="en-US" sz="1600" b="1" dirty="0" smtClean="0"/>
              <a:t> - Agent orchestrator</a:t>
            </a:r>
          </a:p>
          <a:p>
            <a:pPr fontAlgn="base"/>
            <a:r>
              <a:rPr lang="en-US" sz="1600" b="1" dirty="0" smtClean="0"/>
              <a:t> - Explainable AI outputs</a:t>
            </a:r>
          </a:p>
          <a:p>
            <a:pPr fontAlgn="base"/>
            <a:r>
              <a:rPr lang="en-US" sz="1600" b="1" dirty="0" smtClean="0"/>
              <a:t> –Suitable for </a:t>
            </a:r>
            <a:r>
              <a:rPr lang="en-US" sz="1600" b="1" dirty="0" err="1" smtClean="0"/>
              <a:t>hackathons</a:t>
            </a:r>
            <a:r>
              <a:rPr lang="en-US" sz="1600" b="1" dirty="0" smtClean="0"/>
              <a:t> and IBM </a:t>
            </a:r>
            <a:r>
              <a:rPr lang="en-US" sz="1600" b="1" dirty="0" err="1" smtClean="0"/>
              <a:t>SkillsBuild</a:t>
            </a:r>
            <a:r>
              <a:rPr lang="en-US" sz="1600" b="1" dirty="0" smtClean="0"/>
              <a:t> </a:t>
            </a:r>
          </a:p>
          <a:p>
            <a:pPr fontAlgn="base"/>
            <a:endParaRPr lang="en-US" sz="1600" b="1" dirty="0" smtClean="0"/>
          </a:p>
          <a:p>
            <a:pPr fontAlgn="base"/>
            <a:r>
              <a:rPr lang="en-US" sz="1600" b="1" dirty="0" smtClean="0"/>
              <a:t>Implement specialized agents relevant to the domain, a dashboard, chat history, and clearly demonstrate IBM watsonx.ai usage through reusable </a:t>
            </a:r>
            <a:r>
              <a:rPr lang="en-US" sz="1600" b="1" dirty="0" err="1" smtClean="0"/>
              <a:t>generate_response</a:t>
            </a:r>
            <a:r>
              <a:rPr lang="en-US" sz="1600" b="1" dirty="0" smtClean="0"/>
              <a:t>() functions. </a:t>
            </a:r>
            <a:endParaRPr lang="en-US" sz="1600" dirty="0" smtClean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xmlns="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dirty="0" smtClean="0"/>
              <a:t>The solution is to implement a </a:t>
            </a:r>
            <a:r>
              <a:rPr lang="en-US" b="1" dirty="0" smtClean="0"/>
              <a:t>structured balanced diet system</a:t>
            </a:r>
            <a:r>
              <a:rPr lang="en-US" dirty="0" smtClean="0"/>
              <a:t> based on local and affordable foods.</a:t>
            </a:r>
          </a:p>
          <a:p>
            <a:endParaRPr lang="en-US" dirty="0" smtClean="0"/>
          </a:p>
          <a:p>
            <a:pPr marL="342900" indent="-342900">
              <a:buAutoNum type="alphaUcPeriod"/>
            </a:pPr>
            <a:r>
              <a:rPr lang="en-US" b="1" dirty="0" smtClean="0"/>
              <a:t>Daily Diet Plan Structure</a:t>
            </a:r>
          </a:p>
          <a:p>
            <a:pPr marL="342900" indent="-342900"/>
            <a:endParaRPr lang="en-US" b="1" dirty="0" smtClean="0"/>
          </a:p>
          <a:p>
            <a:r>
              <a:rPr lang="en-US" b="1" dirty="0" smtClean="0"/>
              <a:t>Morning (Breakfast):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Milk or curd </a:t>
            </a:r>
          </a:p>
          <a:p>
            <a:pPr lvl="1"/>
            <a:r>
              <a:rPr lang="en-US" dirty="0" smtClean="0"/>
              <a:t>Eggs / sprouts / banana </a:t>
            </a:r>
          </a:p>
          <a:p>
            <a:pPr lvl="1"/>
            <a:r>
              <a:rPr lang="en-US" dirty="0" smtClean="0"/>
              <a:t>Whole grains (</a:t>
            </a:r>
            <a:r>
              <a:rPr lang="en-US" dirty="0" err="1" smtClean="0"/>
              <a:t>idli</a:t>
            </a:r>
            <a:r>
              <a:rPr lang="en-US" dirty="0" smtClean="0"/>
              <a:t>, </a:t>
            </a:r>
            <a:r>
              <a:rPr lang="en-US" dirty="0" err="1" smtClean="0"/>
              <a:t>chapati</a:t>
            </a:r>
            <a:r>
              <a:rPr lang="en-US" dirty="0" smtClean="0"/>
              <a:t>, oats) 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Mid-morning: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Fruits (banana, apple, papaya, guava) 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Lunch: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Rice or </a:t>
            </a:r>
            <a:r>
              <a:rPr lang="en-US" dirty="0" err="1" smtClean="0"/>
              <a:t>chapati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Dal</a:t>
            </a:r>
            <a:r>
              <a:rPr lang="en-US" dirty="0" smtClean="0"/>
              <a:t> (lentils) or protein source </a:t>
            </a:r>
          </a:p>
          <a:p>
            <a:pPr lvl="1"/>
            <a:r>
              <a:rPr lang="en-US" dirty="0" smtClean="0"/>
              <a:t>Vegetables (leafy greens, seasonal vegetables) </a:t>
            </a:r>
          </a:p>
          <a:p>
            <a:pPr lvl="1"/>
            <a:r>
              <a:rPr lang="en-US" dirty="0" smtClean="0"/>
              <a:t>Curd</a:t>
            </a:r>
          </a:p>
          <a:p>
            <a:pPr lvl="1"/>
            <a:r>
              <a:rPr lang="en-US" dirty="0" smtClean="0"/>
              <a:t> </a:t>
            </a:r>
          </a:p>
          <a:p>
            <a:r>
              <a:rPr lang="en-US" b="1" dirty="0" smtClean="0"/>
              <a:t>Evening Snack: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Roasted peanuts / </a:t>
            </a:r>
            <a:r>
              <a:rPr lang="en-US" dirty="0" err="1" smtClean="0"/>
              <a:t>chana</a:t>
            </a:r>
            <a:r>
              <a:rPr lang="en-US" dirty="0" smtClean="0"/>
              <a:t> / fruit juice (natural) </a:t>
            </a:r>
          </a:p>
          <a:p>
            <a:endParaRPr lang="en-US" b="1" dirty="0" smtClean="0"/>
          </a:p>
          <a:p>
            <a:r>
              <a:rPr lang="en-US" b="1" dirty="0" smtClean="0"/>
              <a:t>Dinner: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Light food: </a:t>
            </a:r>
            <a:r>
              <a:rPr lang="en-US" dirty="0" err="1" smtClean="0"/>
              <a:t>chapati</a:t>
            </a:r>
            <a:r>
              <a:rPr lang="en-US" dirty="0" smtClean="0"/>
              <a:t> + vegetables + soup</a:t>
            </a:r>
          </a:p>
          <a:p>
            <a:r>
              <a:rPr lang="en-US" sz="1600" b="1" dirty="0" smtClean="0"/>
              <a:t>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</a:t>
            </a:r>
            <a:r>
              <a:rPr lang="en-US" sz="2400" b="1" dirty="0" smtClean="0"/>
              <a:t>- (Diet Model)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xmlns="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For RAG-based nutritional data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Server.js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Server.py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Style.css 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27650" name="Picture 2" descr="C:\Users\E-CAD58\Desktop\code for projec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58265" y="842774"/>
            <a:ext cx="5711483" cy="55485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DC7512A-0AA7-CC22-D1D2-C738BF126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64760"/>
            <a:ext cx="9217740" cy="57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E-CAD58\Desktop\code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2546" y="787791"/>
            <a:ext cx="10516014" cy="52609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22530" name="Picture 2" descr="C:\Users\E-CAD58\Desktop\blueprin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6092" y="995472"/>
            <a:ext cx="9284678" cy="52084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</a:t>
            </a:r>
            <a:r>
              <a:rPr lang="en-US" b="1" dirty="0" err="1"/>
              <a:t>Agentic</a:t>
            </a:r>
            <a:r>
              <a:rPr lang="en-US" b="1" dirty="0"/>
              <a:t> AI in </a:t>
            </a:r>
            <a:r>
              <a:rPr lang="en-US" b="1" dirty="0" smtClean="0"/>
              <a:t>DIP DIET  RAG PROJECT</a:t>
            </a:r>
            <a:endParaRPr lang="en-US" b="1" dirty="0"/>
          </a:p>
          <a:p>
            <a:r>
              <a:rPr lang="en-US" sz="1200" b="1" dirty="0" err="1" smtClean="0"/>
              <a:t>Agentic</a:t>
            </a:r>
            <a:r>
              <a:rPr lang="en-US" sz="1200" b="1" dirty="0" smtClean="0"/>
              <a:t> AI</a:t>
            </a:r>
            <a:r>
              <a:rPr lang="en-US" sz="1200" dirty="0" smtClean="0"/>
              <a:t> enhances a </a:t>
            </a:r>
            <a:r>
              <a:rPr lang="en-US" sz="1200" b="1" dirty="0" smtClean="0"/>
              <a:t>Retrieval-Augmented Generation (RAG)</a:t>
            </a:r>
            <a:r>
              <a:rPr lang="en-US" sz="1200" dirty="0" smtClean="0"/>
              <a:t> diet project by acting as an intelligent assistant that can plan, retrieve, analyze, and provide personalized recommendations rather than only answering questions.</a:t>
            </a:r>
          </a:p>
          <a:p>
            <a:r>
              <a:rPr lang="en-US" sz="1200" b="1" dirty="0" smtClean="0"/>
              <a:t>Roles of </a:t>
            </a:r>
            <a:r>
              <a:rPr lang="en-US" sz="1200" b="1" dirty="0" err="1" smtClean="0"/>
              <a:t>Agentic</a:t>
            </a:r>
            <a:r>
              <a:rPr lang="en-US" sz="1200" b="1" dirty="0" smtClean="0"/>
              <a:t> AI</a:t>
            </a:r>
          </a:p>
          <a:p>
            <a:r>
              <a:rPr lang="en-US" sz="1200" b="1" dirty="0" smtClean="0"/>
              <a:t>Personalized Diet Planning</a:t>
            </a:r>
            <a:r>
              <a:rPr lang="en-US" sz="1200" dirty="0" smtClean="0"/>
              <a:t> </a:t>
            </a:r>
          </a:p>
          <a:p>
            <a:pPr lvl="1"/>
            <a:r>
              <a:rPr lang="en-US" sz="1200" dirty="0" smtClean="0"/>
              <a:t>Collects user information such as age, weight, height, activity level, dietary preferences, allergies, and health conditions. </a:t>
            </a:r>
          </a:p>
          <a:p>
            <a:pPr lvl="1"/>
            <a:r>
              <a:rPr lang="en-US" sz="1200" dirty="0" smtClean="0"/>
              <a:t>Generates customized meal plans based on individual nutritional needs. </a:t>
            </a:r>
          </a:p>
          <a:p>
            <a:r>
              <a:rPr lang="en-US" sz="1200" b="1" dirty="0" smtClean="0"/>
              <a:t>Intelligent Information Retrieval (RAG)</a:t>
            </a:r>
            <a:r>
              <a:rPr lang="en-US" sz="1200" dirty="0" smtClean="0"/>
              <a:t> </a:t>
            </a:r>
          </a:p>
          <a:p>
            <a:pPr lvl="1"/>
            <a:r>
              <a:rPr lang="en-US" sz="1200" dirty="0" smtClean="0"/>
              <a:t>Retrieves the latest nutrition guidelines, clinical recommendations, and trusted dietary information from a verified knowledge base. </a:t>
            </a:r>
          </a:p>
          <a:p>
            <a:pPr lvl="1"/>
            <a:r>
              <a:rPr lang="en-US" sz="1200" dirty="0" smtClean="0"/>
              <a:t>Ensures responses are accurate, up-to-date, and evidence-based. </a:t>
            </a:r>
          </a:p>
          <a:p>
            <a:r>
              <a:rPr lang="en-US" sz="1200" b="1" dirty="0" smtClean="0"/>
              <a:t>Health Monitoring</a:t>
            </a:r>
            <a:r>
              <a:rPr lang="en-US" sz="1200" dirty="0" smtClean="0"/>
              <a:t> </a:t>
            </a:r>
          </a:p>
          <a:p>
            <a:pPr lvl="1"/>
            <a:r>
              <a:rPr lang="en-US" sz="1200" dirty="0" smtClean="0"/>
              <a:t>Tracks daily calorie intake, water consumption, exercise, and weight changes. </a:t>
            </a:r>
          </a:p>
          <a:p>
            <a:pPr lvl="1"/>
            <a:r>
              <a:rPr lang="en-US" sz="1200" dirty="0" smtClean="0"/>
              <a:t>Continuously evaluates user progress and updates recommendations. </a:t>
            </a:r>
          </a:p>
          <a:p>
            <a:r>
              <a:rPr lang="en-US" sz="1200" b="1" dirty="0" smtClean="0"/>
              <a:t>Adaptive Recommendations</a:t>
            </a:r>
            <a:r>
              <a:rPr lang="en-US" sz="1200" dirty="0" smtClean="0"/>
              <a:t> </a:t>
            </a:r>
          </a:p>
          <a:p>
            <a:pPr lvl="1"/>
            <a:r>
              <a:rPr lang="en-US" sz="1200" dirty="0" smtClean="0"/>
              <a:t>Learns from user feedback and eating habits. </a:t>
            </a:r>
          </a:p>
          <a:p>
            <a:pPr lvl="1"/>
            <a:r>
              <a:rPr lang="en-US" sz="1200" dirty="0" smtClean="0"/>
              <a:t>Suggests healthier food alternatives when users skip meals or consume unhealthy foods. </a:t>
            </a:r>
          </a:p>
          <a:p>
            <a:r>
              <a:rPr lang="en-US" sz="1200" b="1" dirty="0" smtClean="0"/>
              <a:t>Risk Detection</a:t>
            </a:r>
            <a:r>
              <a:rPr lang="en-US" sz="1200" dirty="0" smtClean="0"/>
              <a:t> </a:t>
            </a:r>
          </a:p>
          <a:p>
            <a:pPr lvl="1"/>
            <a:r>
              <a:rPr lang="en-US" sz="1200" dirty="0" smtClean="0"/>
              <a:t>Identifies unhealthy eating patterns, nutritional deficiencies, or excessive calorie intake. </a:t>
            </a:r>
          </a:p>
          <a:p>
            <a:pPr lvl="1"/>
            <a:r>
              <a:rPr lang="en-US" sz="1200" dirty="0" smtClean="0"/>
              <a:t>Alerts users and recommends corrective actions or consultation with healthcare professionals when appropriate. </a:t>
            </a:r>
          </a:p>
          <a:p>
            <a:r>
              <a:rPr lang="en-US" sz="1200" b="1" dirty="0" smtClean="0"/>
              <a:t>Benefits of Using </a:t>
            </a:r>
            <a:r>
              <a:rPr lang="en-US" sz="1200" b="1" dirty="0" err="1" smtClean="0"/>
              <a:t>Agentic</a:t>
            </a:r>
            <a:r>
              <a:rPr lang="en-US" sz="1200" b="1" dirty="0" smtClean="0"/>
              <a:t> AI</a:t>
            </a:r>
          </a:p>
          <a:p>
            <a:r>
              <a:rPr lang="en-US" sz="1200" dirty="0" smtClean="0"/>
              <a:t>Delivers highly personalized diet recommendations. </a:t>
            </a:r>
          </a:p>
          <a:p>
            <a:r>
              <a:rPr lang="en-US" sz="1200" dirty="0" smtClean="0"/>
              <a:t>Provides accurate responses using RAG-based knowledge retrieval. </a:t>
            </a:r>
          </a:p>
          <a:p>
            <a:r>
              <a:rPr lang="en-US" sz="1200" dirty="0" smtClean="0"/>
              <a:t>Automates meal planning and progress tracking. </a:t>
            </a:r>
          </a:p>
          <a:p>
            <a:r>
              <a:rPr lang="en-US" sz="1200" dirty="0" smtClean="0"/>
              <a:t>Encourages healthier habits through proactive reminders. </a:t>
            </a:r>
          </a:p>
          <a:p>
            <a:r>
              <a:rPr lang="en-US" sz="1200" dirty="0" smtClean="0"/>
              <a:t>Improves user engagement and adherence to diet plans. </a:t>
            </a:r>
          </a:p>
          <a:p>
            <a:r>
              <a:rPr lang="en-US" sz="1200" dirty="0" smtClean="0"/>
              <a:t>Supports long-term health management with adaptive, data-driven recommendations.</a:t>
            </a:r>
          </a:p>
          <a:p>
            <a:endParaRPr lang="en-US" b="1" dirty="0" err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86" name="Picture 2" descr="C:\Users\E-CAD58\Desktop\dip diet project new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7050" y="1055078"/>
            <a:ext cx="10061848" cy="54160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18473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14338" name="Picture 2" descr="C:\Users\E-CAD58\Desktop\screen shot for outpu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3321" y="918552"/>
            <a:ext cx="8896350" cy="4848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8509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90" name="Picture 2" descr="C:\Users\E-CAD58\Desktop\screen shot for output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7183" y="1083212"/>
            <a:ext cx="9289977" cy="45860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/>
              <a:t>The proposed Nutrition Agent stands out by combining </a:t>
            </a:r>
            <a:r>
              <a:rPr lang="en-IN" sz="1800" b="1"/>
              <a:t>Agentic AI, RAG, and personalization</a:t>
            </a:r>
            <a:r>
              <a:rPr lang="en-IN" sz="1800"/>
              <a:t> into a single intelligent system.</a:t>
            </a:r>
          </a:p>
          <a:p>
            <a:endParaRPr lang="en-IN" sz="1800"/>
          </a:p>
          <a:p>
            <a:r>
              <a:rPr lang="en-IN" sz="1800" b="1"/>
              <a:t>Multi-Agent Intelligence</a:t>
            </a:r>
            <a:r>
              <a:rPr lang="en-IN" sz="1800"/>
              <a:t> – Instead of a single chatbot, multiple specialized agents collaborate to deliver accurate and context-aware nutrition guidance. </a:t>
            </a:r>
          </a:p>
          <a:p>
            <a:r>
              <a:rPr lang="en-IN" sz="1800" b="1"/>
              <a:t>RAG-Based Accuracy</a:t>
            </a:r>
            <a:r>
              <a:rPr lang="en-IN" sz="1800"/>
              <a:t> – Integrates real-time data retrieval with AI generation, reducing misinformation and ensuring trustworthy recommendations. </a:t>
            </a:r>
          </a:p>
          <a:p>
            <a:r>
              <a:rPr lang="en-IN" sz="1800" b="1"/>
              <a:t>Hyper-Personalization</a:t>
            </a:r>
            <a:r>
              <a:rPr lang="en-IN" sz="1800"/>
              <a:t> – Tailors diet plans based on health conditions, cultural preferences, and fitness goals. </a:t>
            </a:r>
          </a:p>
          <a:p>
            <a:r>
              <a:rPr lang="en-IN" sz="1800" b="1"/>
              <a:t>Real-Time Feedback Loop</a:t>
            </a:r>
            <a:r>
              <a:rPr lang="en-IN" sz="1800"/>
              <a:t> – Continuously adapts recommendations based on daily food logs and user </a:t>
            </a:r>
            <a:r>
              <a:rPr lang="en-IN" sz="1800" err="1"/>
              <a:t>behavior</a:t>
            </a:r>
            <a:r>
              <a:rPr lang="en-IN" sz="1800"/>
              <a:t>. </a:t>
            </a:r>
          </a:p>
          <a:p>
            <a:r>
              <a:rPr lang="en-IN" sz="1800" b="1"/>
              <a:t>Multi-Modal Input</a:t>
            </a:r>
            <a:r>
              <a:rPr lang="en-IN" sz="1800"/>
              <a:t> – Supports text, voice, and image-based meal tracking for better usability. </a:t>
            </a:r>
          </a:p>
          <a:p>
            <a:r>
              <a:rPr lang="en-IN" sz="1800" b="1"/>
              <a:t>Preventive Healthcare Focus</a:t>
            </a:r>
            <a:r>
              <a:rPr lang="en-IN" sz="1800"/>
              <a:t> – Goes beyond diet planning to provide disease-specific nutrition advice. </a:t>
            </a:r>
          </a:p>
          <a:p>
            <a:r>
              <a:rPr lang="en-IN" sz="1800" b="1"/>
              <a:t>Scalable &amp; Enterprise-Ready</a:t>
            </a:r>
            <a:r>
              <a:rPr lang="en-IN" sz="1800"/>
              <a:t> – Built on </a:t>
            </a:r>
            <a:r>
              <a:rPr lang="en-IN" sz="1800" b="1"/>
              <a:t>IBM watsonx.ai</a:t>
            </a:r>
            <a:r>
              <a:rPr lang="en-IN" sz="1800"/>
              <a:t> with </a:t>
            </a:r>
            <a:r>
              <a:rPr lang="en-IN" sz="1800" b="1"/>
              <a:t>IBM Granite models</a:t>
            </a:r>
            <a:r>
              <a:rPr lang="en-IN" sz="1800"/>
              <a:t>, ensuring reliability and governance. </a:t>
            </a:r>
          </a:p>
          <a:p>
            <a:endParaRPr lang="en-IN" sz="1800"/>
          </a:p>
          <a:p>
            <a:r>
              <a:rPr lang="en-IN" sz="1800"/>
              <a:t>This makes the solution a </a:t>
            </a:r>
            <a:r>
              <a:rPr lang="en-IN" sz="1800" b="1"/>
              <a:t>smart, adaptive, and proactive digital nutritionist</a:t>
            </a:r>
            <a:r>
              <a:rPr lang="en-IN" sz="1800"/>
              <a:t>, not just a static diet recommendation tool.</a:t>
            </a: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17964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5851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351692" y="998806"/>
            <a:ext cx="11113477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Connect with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smartwatches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and fitness bands to monitor heart rate, physical activity, sleep, and calories burned in real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Real-Time Health Monitoring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Integrate with digital health records and medical reports to provide more personalized and clinically relevant dietary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Advanced Personalization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Use AI to continuously learn users' eating habits, preferences, allergies, and health goals to deliver increasingly accurate meal plans.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Multilingual Support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Support multiple regional and international languages, making the system accessible to a broader population.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Voice-Based AI Assistant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Integration with Wearable Devices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Enable users to interact with the system through voice commands for meal planning, nutrition advice, and reminders.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Disease-Specific Nutrition Guidance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Expand support for conditions such as diabetes, hypertension, obesity, kidney disease, and heart disease with specialized diet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Restaurant and Grocery Integration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Recommend healthy menu options at restaurants and generate grocery shopping lists based on personalized meal plans.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Predictive Health Analytics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Use machine learning to identify potential nutritional deficiencies and health risks before they become serious, enabling preventive care.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Telemedicine Integration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Allow dietitians and healthcare professionals to review AI-generated diet plans and provide expert consultation through the platform.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Continuous Knowledge Updates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Enhance the RAG system with the latest nutrition research, dietary guidelines, and clinical recommendations to ensure accurate and up-to-date advice.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36706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Please  add your </a:t>
            </a:r>
            <a:r>
              <a:rPr lang="en-US" sz="2800" b="1" dirty="0" err="1"/>
              <a:t>credly</a:t>
            </a:r>
            <a:r>
              <a:rPr lang="en-US" sz="2800" b="1" dirty="0"/>
              <a:t> certificate </a:t>
            </a:r>
          </a:p>
        </p:txBody>
      </p:sp>
      <p:pic>
        <p:nvPicPr>
          <p:cNvPr id="5" name="Picture 4" descr="ROH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776413"/>
            <a:ext cx="10591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9047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Add your IBM BOB Certificate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6925" y="814388"/>
            <a:ext cx="10593388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506610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2202</TotalTime>
  <Words>1138</Words>
  <Application>Microsoft Office PowerPoint</Application>
  <PresentationFormat>Custom</PresentationFormat>
  <Paragraphs>180</Paragraphs>
  <Slides>19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IBM University Engagement Project Submission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PSCMR</cp:lastModifiedBy>
  <cp:revision>29</cp:revision>
  <dcterms:created xsi:type="dcterms:W3CDTF">2025-07-08T05:06:56Z</dcterms:created>
  <dcterms:modified xsi:type="dcterms:W3CDTF">2026-07-10T10:30:11Z</dcterms:modified>
</cp:coreProperties>
</file>